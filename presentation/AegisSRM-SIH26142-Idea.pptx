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t>The challenge is not simply blur. It is trust in reconstructed detail. The left image slot represents the 10-meter Sentinel-2 input, and the right slot represents the enhanced product we will validate. CNN attention handles local texture, transformer fusion handles broader context, and a separate uncertainty head predicts confidence. The user receives a sharper map plus a signal showing where detail may be inferred.</a:t>
            </a: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t>The pipeline begins with Sentinel-2 L2A ingestion, cloud and invalid-pixel masking, normalization, and band resampling. Paired images then go through quality control and co-registration. We use geographically separated train, validation, and test regions to reduce spatial leakage. CNN local attention and transformer fusion reconstruct the image, while the uncertainty branch predicts mean and variance. CRS, affine transform, and band metadata are preserved at export.</a:t>
            </a: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t>Our proof plan has three parts. Training uses scalable synthetic SEN2NAIP and SEN2NAIPv2 pairs, while evaluation uses geographically separated areas. SEN2NAIP provides a 4× cross-sensor route, SEN2VENµS provides a lower-scale registered check, and Cartosat or other Indian references are used when secured. We report PSNR, SSIM, spectral-angle error, downstream utility, latency, VRAM, and throughput. The India-domain test trains on non-Indian pairs and evaluates on held-out Indian AOIs using the same preprocessing.</a:t>
            </a: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t>One capability supports four decision contexts. Agriculture can use sharper crop and field boundaries. Urban teams can use improved built-up detail. Disaster-response teams can benefit from clearer situational awareness. Researchers receive reproducible confidence scores. We will not claim impact from image quality alone; we will check whether the enhanced product helps a downstream task compared with bicubic upsampling and available real high-resolution references.</a:t>
            </a: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t>Our evidence stack is deliberately honest. SEN2NAIP and SEN2NAIPv2 support scalable training and real 4× testing. SEN2VENµS and Indian scenes support validation. SEN2SR, OpenSR, and Donike et al. represent important prior art, so uncertainty and spectral consistency are not presented as standalone novelty. Our differentiation must be measured: Indian-domain transfer and compute efficiency. We report parameters, VRAM, latency, and throughput under fixed patch or tile conditions. DiffFuSR is a paper reference because full-tile reproduction is not realistic for hackathon compute.</a:t>
            </a: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t>Good morning. Our problem is satellite imagery that is useful but not detailed enough for many decisions. We propose an uncertainty-aware super-resolution framework for Sentinel-2 imagery, targeting a sub-4-meter product while preserving spectral and geospatial consistency. We do not present sharper pixels as guaranteed truth. We also expose where the model is uncertain.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endParaRPr lang="en-US" dirty="0"/>
          </a:p>
          <a:p>
            <a:pPr marL="285750" indent="-285750" algn="just">
              <a:lnSpc>
                <a:spcPct val="115000"/>
              </a:lnSpc>
              <a:buFont typeface="Arial" panose="020B0604020202020204" pitchFamily="34" charset="0"/>
              <a:buChar char="•"/>
            </a:pPr>
            <a:r>
              <a:rPr lang="en-US" sz="1800" b="1" dirty="0">
                <a:latin typeface="Arial" panose="020B0604020202020204" pitchFamily="34" charset="0"/>
                <a:cs typeface="Arial" panose="020B0604020202020204" pitchFamily="34" charset="0"/>
              </a:rPr>
              <a:t>Problem Statement ID – SIH26142</a:t>
            </a:r>
          </a:p>
          <a:p>
            <a:pPr marL="285750" indent="-285750" algn="just">
              <a:lnSpc>
                <a:spcPct val="115000"/>
              </a:lnSpc>
              <a:buFont typeface="Arial" panose="020B0604020202020204" pitchFamily="34" charset="0"/>
              <a:buChar char="•"/>
            </a:pPr>
            <a:r>
              <a:rPr lang="en-US" sz="1800" b="1" dirty="0">
                <a:latin typeface="Arial" panose="020B0604020202020204" pitchFamily="34" charset="0"/>
                <a:cs typeface="Arial" panose="020B0604020202020204" pitchFamily="34" charset="0"/>
              </a:rPr>
              <a:t>Problem Statement Title- Deep Learning Based Super Resolution Mapping (SRM) from Medium Resolution Satellite Imageries</a:t>
            </a:r>
          </a:p>
          <a:p>
            <a:pPr marL="285750" indent="-285750" algn="just">
              <a:lnSpc>
                <a:spcPct val="115000"/>
              </a:lnSpc>
              <a:buFont typeface="Arial" panose="020B0604020202020204" pitchFamily="34" charset="0"/>
              <a:buChar char="•"/>
            </a:pPr>
            <a:r>
              <a:rPr lang="en-US" sz="1800" b="1" dirty="0">
                <a:latin typeface="Arial" panose="020B0604020202020204" pitchFamily="34" charset="0"/>
                <a:cs typeface="Arial" panose="020B0604020202020204" pitchFamily="34" charset="0"/>
              </a:rPr>
              <a:t>Theme- Space Technology</a:t>
            </a:r>
          </a:p>
          <a:p>
            <a:pPr marL="285750" indent="-285750" algn="just">
              <a:lnSpc>
                <a:spcPct val="115000"/>
              </a:lnSpc>
              <a:buFont typeface="Arial" panose="020B0604020202020204" pitchFamily="34" charset="0"/>
              <a:buChar char="•"/>
            </a:pPr>
            <a:r>
              <a:rPr lang="en-US" sz="1800" b="1" dirty="0">
                <a:latin typeface="Arial" panose="020B0604020202020204" pitchFamily="34" charset="0"/>
                <a:cs typeface="Arial" panose="020B0604020202020204" pitchFamily="34" charset="0"/>
              </a:rPr>
              <a:t>PS Category- Software</a:t>
            </a:r>
          </a:p>
          <a:p>
            <a:pPr marL="285750" indent="-285750" algn="just">
              <a:lnSpc>
                <a:spcPct val="115000"/>
              </a:lnSpc>
              <a:buFont typeface="Arial" panose="020B0604020202020204" pitchFamily="34" charset="0"/>
              <a:buChar char="•"/>
            </a:pPr>
            <a:r>
              <a:rPr lang="en-US" sz="1800" b="1" dirty="0">
                <a:latin typeface="Arial" panose="020B0604020202020204" pitchFamily="34" charset="0"/>
                <a:cs typeface="Arial" panose="020B0604020202020204" pitchFamily="34" charset="0"/>
              </a:rPr>
              <a:t>Team ID- [fill in from portal]</a:t>
            </a:r>
          </a:p>
          <a:p>
            <a:pPr marL="285750" indent="-285750" algn="just">
              <a:lnSpc>
                <a:spcPct val="115000"/>
              </a:lnSpc>
              <a:buFont typeface="Arial" panose="020B0604020202020204" pitchFamily="34" charset="0"/>
              <a:buChar char="•"/>
            </a:pPr>
            <a:r>
              <a:rPr lang="en-US" sz="1800" b="1" dirty="0">
                <a:latin typeface="Arial" panose="020B0604020202020204" pitchFamily="34" charset="0"/>
                <a:cs typeface="Arial" panose="020B0604020202020204" pitchFamily="34" charset="0"/>
              </a:rPr>
              <a:t>Team Name (Registered on portal) - [fill in]</a:t>
            </a:r>
            <a:endParaRPr lang="en-IN" sz="18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502920" y="1673352"/>
            <a:ext cx="9372600" cy="256032"/>
          </a:xfrm>
          <a:prstGeom prst="rect">
            <a:avLst/>
          </a:prstGeom>
          <a:noFill/>
        </p:spPr>
        <p:txBody>
          <a:bodyPr wrap="square" anchor="ctr" lIns="36576" rIns="36576" tIns="9144" bIns="9144">
            <a:spAutoFit/>
          </a:bodyPr>
          <a:lstStyle/>
          <a:p>
            <a:pPr algn="l"/>
            <a:r>
              <a:rPr sz="1000" b="1">
                <a:solidFill>
                  <a:srgbClr val="677584"/>
                </a:solidFill>
                <a:latin typeface="Arial"/>
              </a:rPr>
              <a:t>THE PROBLEM IS NOT JUST BLUR — IT IS TRUST IN THE RECONSTRUCTED DETAIL</a:t>
            </a:r>
          </a:p>
        </p:txBody>
      </p:sp>
      <p:sp>
        <p:nvSpPr>
          <p:cNvPr id="15363" name="Rectangle 15362"/>
          <p:cNvSpPr/>
          <p:nvPr/>
        </p:nvSpPr>
        <p:spPr>
          <a:xfrm>
            <a:off x="685800" y="2240280"/>
            <a:ext cx="1874519" cy="1417320"/>
          </a:xfrm>
          <a:prstGeom prst="rect">
            <a:avLst/>
          </a:prstGeom>
          <a:solidFill>
            <a:srgbClr val="FAFAFA"/>
          </a:solidFill>
          <a:ln w="12700">
            <a:solidFill>
              <a:srgbClr val="6775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4" name="TextBox 15363"/>
          <p:cNvSpPr txBox="1"/>
          <p:nvPr/>
        </p:nvSpPr>
        <p:spPr>
          <a:xfrm>
            <a:off x="758952" y="2286000"/>
            <a:ext cx="1728215" cy="1325880"/>
          </a:xfrm>
          <a:prstGeom prst="rect">
            <a:avLst/>
          </a:prstGeom>
          <a:noFill/>
        </p:spPr>
        <p:txBody>
          <a:bodyPr wrap="square" anchor="ctr" lIns="36576" rIns="36576" tIns="9144" bIns="9144">
            <a:spAutoFit/>
          </a:bodyPr>
          <a:lstStyle/>
          <a:p>
            <a:pPr algn="ctr"/>
            <a:r>
              <a:rPr sz="1000" b="1">
                <a:solidFill>
                  <a:srgbClr val="677584"/>
                </a:solidFill>
                <a:latin typeface="Arial"/>
              </a:rPr>
              <a:t>IMAGE PLACEHOLDER
10 m Sentinel-2 input</a:t>
            </a:r>
          </a:p>
        </p:txBody>
      </p:sp>
      <p:sp>
        <p:nvSpPr>
          <p:cNvPr id="15365" name="Rectangle 15364"/>
          <p:cNvSpPr/>
          <p:nvPr/>
        </p:nvSpPr>
        <p:spPr>
          <a:xfrm>
            <a:off x="7818120" y="2240280"/>
            <a:ext cx="1874519" cy="1417320"/>
          </a:xfrm>
          <a:prstGeom prst="rect">
            <a:avLst/>
          </a:prstGeom>
          <a:solidFill>
            <a:srgbClr val="FAFAFA"/>
          </a:solidFill>
          <a:ln w="12700">
            <a:solidFill>
              <a:srgbClr val="6775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6" name="TextBox 15365"/>
          <p:cNvSpPr txBox="1"/>
          <p:nvPr/>
        </p:nvSpPr>
        <p:spPr>
          <a:xfrm>
            <a:off x="7891272" y="2286000"/>
            <a:ext cx="1728215" cy="1325880"/>
          </a:xfrm>
          <a:prstGeom prst="rect">
            <a:avLst/>
          </a:prstGeom>
          <a:noFill/>
        </p:spPr>
        <p:txBody>
          <a:bodyPr wrap="square" anchor="ctr" lIns="36576" rIns="36576" tIns="9144" bIns="9144">
            <a:spAutoFit/>
          </a:bodyPr>
          <a:lstStyle/>
          <a:p>
            <a:pPr algn="ctr"/>
            <a:r>
              <a:rPr sz="1000" b="1">
                <a:solidFill>
                  <a:srgbClr val="677584"/>
                </a:solidFill>
                <a:latin typeface="Arial"/>
              </a:rPr>
              <a:t>IMAGE PLACEHOLDER
&lt;4 m SR output</a:t>
            </a:r>
          </a:p>
        </p:txBody>
      </p:sp>
      <p:cxnSp>
        <p:nvCxnSpPr>
          <p:cNvPr id="15367" name="Connector 15366"/>
          <p:cNvCxnSpPr/>
          <p:nvPr/>
        </p:nvCxnSpPr>
        <p:spPr>
          <a:xfrm>
            <a:off x="2606040" y="2944368"/>
            <a:ext cx="1051560" cy="0"/>
          </a:xfrm>
          <a:prstGeom prst="line">
            <a:avLst/>
          </a:prstGeom>
          <a:ln w="25400">
            <a:solidFill>
              <a:srgbClr val="2F68A0"/>
            </a:solidFill>
          </a:ln>
        </p:spPr>
        <p:style>
          <a:lnRef idx="2">
            <a:schemeClr val="accent1"/>
          </a:lnRef>
          <a:fillRef idx="0">
            <a:schemeClr val="accent1"/>
          </a:fillRef>
          <a:effectRef idx="1">
            <a:schemeClr val="accent1"/>
          </a:effectRef>
          <a:fontRef idx="minor">
            <a:schemeClr val="tx1"/>
          </a:fontRef>
        </p:style>
      </p:cxnSp>
      <p:cxnSp>
        <p:nvCxnSpPr>
          <p:cNvPr id="15368" name="Connector 15367"/>
          <p:cNvCxnSpPr/>
          <p:nvPr/>
        </p:nvCxnSpPr>
        <p:spPr>
          <a:xfrm>
            <a:off x="6995160" y="2944368"/>
            <a:ext cx="822960" cy="0"/>
          </a:xfrm>
          <a:prstGeom prst="line">
            <a:avLst/>
          </a:prstGeom>
          <a:ln w="25400">
            <a:solidFill>
              <a:srgbClr val="2F68A0"/>
            </a:solidFill>
          </a:ln>
        </p:spPr>
        <p:style>
          <a:lnRef idx="2">
            <a:schemeClr val="accent1"/>
          </a:lnRef>
          <a:fillRef idx="0">
            <a:schemeClr val="accent1"/>
          </a:fillRef>
          <a:effectRef idx="1">
            <a:schemeClr val="accent1"/>
          </a:effectRef>
          <a:fontRef idx="minor">
            <a:schemeClr val="tx1"/>
          </a:fontRef>
        </p:style>
      </p:cxnSp>
      <p:sp>
        <p:nvSpPr>
          <p:cNvPr id="15369" name="Oval 15368"/>
          <p:cNvSpPr/>
          <p:nvPr/>
        </p:nvSpPr>
        <p:spPr>
          <a:xfrm>
            <a:off x="3794760" y="2331720"/>
            <a:ext cx="502920" cy="502920"/>
          </a:xfrm>
          <a:prstGeom prst="ellipse">
            <a:avLst/>
          </a:prstGeom>
          <a:solidFill>
            <a:srgbClr val="2F68A0"/>
          </a:solidFill>
          <a:ln w="12700">
            <a:solidFill>
              <a:srgbClr val="2F6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0" name="TextBox 15369"/>
          <p:cNvSpPr txBox="1"/>
          <p:nvPr/>
        </p:nvSpPr>
        <p:spPr>
          <a:xfrm>
            <a:off x="3794760" y="2331720"/>
            <a:ext cx="502920" cy="502920"/>
          </a:xfrm>
          <a:prstGeom prst="rect">
            <a:avLst/>
          </a:prstGeom>
          <a:noFill/>
        </p:spPr>
        <p:txBody>
          <a:bodyPr wrap="square" anchor="ctr" lIns="36576" rIns="36576" tIns="9144" bIns="9144">
            <a:spAutoFit/>
          </a:bodyPr>
          <a:lstStyle/>
          <a:p>
            <a:pPr algn="ctr"/>
            <a:r>
              <a:rPr sz="1000" b="1">
                <a:solidFill>
                  <a:srgbClr val="FFFFFF"/>
                </a:solidFill>
                <a:latin typeface="Arial"/>
              </a:rPr>
              <a:t>01</a:t>
            </a:r>
          </a:p>
        </p:txBody>
      </p:sp>
      <p:sp>
        <p:nvSpPr>
          <p:cNvPr id="15371" name="Oval 15370"/>
          <p:cNvSpPr/>
          <p:nvPr/>
        </p:nvSpPr>
        <p:spPr>
          <a:xfrm>
            <a:off x="6355080" y="2331720"/>
            <a:ext cx="502920" cy="502920"/>
          </a:xfrm>
          <a:prstGeom prst="ellipse">
            <a:avLst/>
          </a:prstGeom>
          <a:solidFill>
            <a:srgbClr val="E2A43E"/>
          </a:solidFill>
          <a:ln w="12700">
            <a:solidFill>
              <a:srgbClr val="E2A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2" name="TextBox 15371"/>
          <p:cNvSpPr txBox="1"/>
          <p:nvPr/>
        </p:nvSpPr>
        <p:spPr>
          <a:xfrm>
            <a:off x="6355080" y="2331720"/>
            <a:ext cx="502920" cy="502920"/>
          </a:xfrm>
          <a:prstGeom prst="rect">
            <a:avLst/>
          </a:prstGeom>
          <a:noFill/>
        </p:spPr>
        <p:txBody>
          <a:bodyPr wrap="square" anchor="ctr" lIns="36576" rIns="36576" tIns="9144" bIns="9144">
            <a:spAutoFit/>
          </a:bodyPr>
          <a:lstStyle/>
          <a:p>
            <a:pPr algn="ctr"/>
            <a:r>
              <a:rPr sz="1000" b="1">
                <a:solidFill>
                  <a:srgbClr val="FFFFFF"/>
                </a:solidFill>
                <a:latin typeface="Arial"/>
              </a:rPr>
              <a:t>02</a:t>
            </a:r>
          </a:p>
        </p:txBody>
      </p:sp>
      <p:sp>
        <p:nvSpPr>
          <p:cNvPr id="15373" name="Rounded Rectangle 15372"/>
          <p:cNvSpPr/>
          <p:nvPr/>
        </p:nvSpPr>
        <p:spPr>
          <a:xfrm>
            <a:off x="3246120" y="3017520"/>
            <a:ext cx="1600200" cy="777240"/>
          </a:xfrm>
          <a:prstGeom prst="roundRect">
            <a:avLst/>
          </a:prstGeom>
          <a:solidFill>
            <a:srgbClr val="D3E5F4"/>
          </a:solidFill>
          <a:ln w="13970">
            <a:solidFill>
              <a:srgbClr val="2F6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4" name="TextBox 15373"/>
          <p:cNvSpPr txBox="1"/>
          <p:nvPr/>
        </p:nvSpPr>
        <p:spPr>
          <a:xfrm>
            <a:off x="3282696" y="3035808"/>
            <a:ext cx="1527048" cy="740664"/>
          </a:xfrm>
          <a:prstGeom prst="rect">
            <a:avLst/>
          </a:prstGeom>
          <a:noFill/>
        </p:spPr>
        <p:txBody>
          <a:bodyPr wrap="square" anchor="ctr" lIns="36576" rIns="36576" tIns="9144" bIns="9144">
            <a:spAutoFit/>
          </a:bodyPr>
          <a:lstStyle/>
          <a:p>
            <a:pPr algn="ctr"/>
            <a:r>
              <a:rPr sz="1000" b="1">
                <a:solidFill>
                  <a:srgbClr val="1D314F"/>
                </a:solidFill>
                <a:latin typeface="Arial"/>
              </a:rPr>
              <a:t>CNN attention
+ Transformer fusion</a:t>
            </a:r>
          </a:p>
        </p:txBody>
      </p:sp>
      <p:sp>
        <p:nvSpPr>
          <p:cNvPr id="15375" name="Rounded Rectangle 15374"/>
          <p:cNvSpPr/>
          <p:nvPr/>
        </p:nvSpPr>
        <p:spPr>
          <a:xfrm>
            <a:off x="5806440" y="3017520"/>
            <a:ext cx="1600200" cy="777240"/>
          </a:xfrm>
          <a:prstGeom prst="roundRect">
            <a:avLst/>
          </a:prstGeom>
          <a:solidFill>
            <a:srgbClr val="FFF7E0"/>
          </a:solidFill>
          <a:ln w="13970">
            <a:solidFill>
              <a:srgbClr val="E2A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6" name="TextBox 15375"/>
          <p:cNvSpPr txBox="1"/>
          <p:nvPr/>
        </p:nvSpPr>
        <p:spPr>
          <a:xfrm>
            <a:off x="5843016" y="3035808"/>
            <a:ext cx="1527048" cy="740664"/>
          </a:xfrm>
          <a:prstGeom prst="rect">
            <a:avLst/>
          </a:prstGeom>
          <a:noFill/>
        </p:spPr>
        <p:txBody>
          <a:bodyPr wrap="square" anchor="ctr" lIns="36576" rIns="36576" tIns="9144" bIns="9144">
            <a:spAutoFit/>
          </a:bodyPr>
          <a:lstStyle/>
          <a:p>
            <a:pPr algn="ctr"/>
            <a:r>
              <a:rPr sz="1000" b="1">
                <a:solidFill>
                  <a:srgbClr val="1D314F"/>
                </a:solidFill>
                <a:latin typeface="Arial"/>
              </a:rPr>
              <a:t>Uncertainty
head</a:t>
            </a:r>
          </a:p>
        </p:txBody>
      </p:sp>
      <p:cxnSp>
        <p:nvCxnSpPr>
          <p:cNvPr id="15377" name="Connector 15376"/>
          <p:cNvCxnSpPr/>
          <p:nvPr/>
        </p:nvCxnSpPr>
        <p:spPr>
          <a:xfrm>
            <a:off x="4846320" y="3401568"/>
            <a:ext cx="960120" cy="0"/>
          </a:xfrm>
          <a:prstGeom prst="line">
            <a:avLst/>
          </a:prstGeom>
          <a:ln w="20320">
            <a:solidFill>
              <a:srgbClr val="1D314F"/>
            </a:solidFill>
          </a:ln>
        </p:spPr>
        <p:style>
          <a:lnRef idx="2">
            <a:schemeClr val="accent1"/>
          </a:lnRef>
          <a:fillRef idx="0">
            <a:schemeClr val="accent1"/>
          </a:fillRef>
          <a:effectRef idx="1">
            <a:schemeClr val="accent1"/>
          </a:effectRef>
          <a:fontRef idx="minor">
            <a:schemeClr val="tx1"/>
          </a:fontRef>
        </p:style>
      </p:cxnSp>
      <p:sp>
        <p:nvSpPr>
          <p:cNvPr id="15378" name="Rounded Rectangle 15377"/>
          <p:cNvSpPr/>
          <p:nvPr/>
        </p:nvSpPr>
        <p:spPr>
          <a:xfrm>
            <a:off x="2331720" y="4800600"/>
            <a:ext cx="4754880" cy="384048"/>
          </a:xfrm>
          <a:prstGeom prst="roundRect">
            <a:avLst/>
          </a:prstGeom>
          <a:solidFill>
            <a:srgbClr val="1D314F"/>
          </a:solidFill>
          <a:ln w="12700">
            <a:solidFill>
              <a:srgbClr val="1D3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9" name="TextBox 15378"/>
          <p:cNvSpPr txBox="1"/>
          <p:nvPr/>
        </p:nvSpPr>
        <p:spPr>
          <a:xfrm>
            <a:off x="2331720" y="4800600"/>
            <a:ext cx="4754880" cy="384048"/>
          </a:xfrm>
          <a:prstGeom prst="rect">
            <a:avLst/>
          </a:prstGeom>
          <a:noFill/>
        </p:spPr>
        <p:txBody>
          <a:bodyPr wrap="square" anchor="ctr" lIns="36576" rIns="36576" tIns="9144" bIns="9144">
            <a:spAutoFit/>
          </a:bodyPr>
          <a:lstStyle/>
          <a:p>
            <a:pPr algn="ctr"/>
            <a:r>
              <a:rPr sz="1000" b="1">
                <a:solidFill>
                  <a:srgbClr val="FFFFFF"/>
                </a:solidFill>
                <a:latin typeface="Arial"/>
              </a:rPr>
              <a:t>Sharper maps + confidence about where detail is inferred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673352"/>
            <a:ext cx="9372600" cy="256032"/>
          </a:xfrm>
          <a:prstGeom prst="rect">
            <a:avLst/>
          </a:prstGeom>
          <a:noFill/>
        </p:spPr>
        <p:txBody>
          <a:bodyPr wrap="square" anchor="ctr" lIns="36576" rIns="36576" tIns="9144" bIns="9144">
            <a:spAutoFit/>
          </a:bodyPr>
          <a:lstStyle/>
          <a:p>
            <a:pPr algn="l"/>
            <a:r>
              <a:rPr sz="1000" b="1">
                <a:solidFill>
                  <a:srgbClr val="677584"/>
                </a:solidFill>
                <a:latin typeface="Arial"/>
              </a:rPr>
              <a:t>END-TO-END PIPELINE | PREPROCESS → RECONSTRUCT → VERIFY → EXPORT</a:t>
            </a:r>
          </a:p>
        </p:txBody>
      </p:sp>
      <p:sp>
        <p:nvSpPr>
          <p:cNvPr id="17411" name="Oval 17410"/>
          <p:cNvSpPr/>
          <p:nvPr/>
        </p:nvSpPr>
        <p:spPr>
          <a:xfrm>
            <a:off x="594360" y="2331720"/>
            <a:ext cx="438912" cy="438912"/>
          </a:xfrm>
          <a:prstGeom prst="ellipse">
            <a:avLst/>
          </a:prstGeom>
          <a:solidFill>
            <a:srgbClr val="2F68A0"/>
          </a:solidFill>
          <a:ln w="12700">
            <a:solidFill>
              <a:srgbClr val="2F6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TextBox 17411"/>
          <p:cNvSpPr txBox="1"/>
          <p:nvPr/>
        </p:nvSpPr>
        <p:spPr>
          <a:xfrm>
            <a:off x="594360" y="2331720"/>
            <a:ext cx="438912" cy="438912"/>
          </a:xfrm>
          <a:prstGeom prst="rect">
            <a:avLst/>
          </a:prstGeom>
          <a:noFill/>
        </p:spPr>
        <p:txBody>
          <a:bodyPr wrap="square" anchor="ctr" lIns="36576" rIns="36576" tIns="9144" bIns="9144">
            <a:spAutoFit/>
          </a:bodyPr>
          <a:lstStyle/>
          <a:p>
            <a:pPr algn="ctr"/>
            <a:r>
              <a:rPr sz="900" b="1">
                <a:solidFill>
                  <a:srgbClr val="FFFFFF"/>
                </a:solidFill>
                <a:latin typeface="Arial"/>
              </a:rPr>
              <a:t>01</a:t>
            </a:r>
          </a:p>
        </p:txBody>
      </p:sp>
      <p:sp>
        <p:nvSpPr>
          <p:cNvPr id="17413" name="Rounded Rectangle 17412"/>
          <p:cNvSpPr/>
          <p:nvPr/>
        </p:nvSpPr>
        <p:spPr>
          <a:xfrm>
            <a:off x="429768" y="2880360"/>
            <a:ext cx="1417320" cy="960120"/>
          </a:xfrm>
          <a:prstGeom prst="roundRect">
            <a:avLst/>
          </a:prstGeom>
          <a:solidFill>
            <a:srgbClr val="F2F7FB"/>
          </a:solidFill>
          <a:ln w="13970">
            <a:solidFill>
              <a:srgbClr val="2F6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TextBox 17413"/>
          <p:cNvSpPr txBox="1"/>
          <p:nvPr/>
        </p:nvSpPr>
        <p:spPr>
          <a:xfrm>
            <a:off x="466344" y="2898648"/>
            <a:ext cx="1344168" cy="923544"/>
          </a:xfrm>
          <a:prstGeom prst="rect">
            <a:avLst/>
          </a:prstGeom>
          <a:noFill/>
        </p:spPr>
        <p:txBody>
          <a:bodyPr wrap="square" anchor="ctr" lIns="36576" rIns="36576" tIns="9144" bIns="9144">
            <a:spAutoFit/>
          </a:bodyPr>
          <a:lstStyle/>
          <a:p>
            <a:pPr algn="ctr"/>
            <a:r>
              <a:rPr sz="900" b="1">
                <a:solidFill>
                  <a:srgbClr val="1D314F"/>
                </a:solidFill>
                <a:latin typeface="Arial"/>
              </a:rPr>
              <a:t>Ingest
L2A + cloud mask
normalize / resample</a:t>
            </a:r>
          </a:p>
        </p:txBody>
      </p:sp>
      <p:cxnSp>
        <p:nvCxnSpPr>
          <p:cNvPr id="17415" name="Connector 17414"/>
          <p:cNvCxnSpPr/>
          <p:nvPr/>
        </p:nvCxnSpPr>
        <p:spPr>
          <a:xfrm>
            <a:off x="1856231" y="3364992"/>
            <a:ext cx="493777" cy="0"/>
          </a:xfrm>
          <a:prstGeom prst="line">
            <a:avLst/>
          </a:prstGeom>
          <a:ln w="19050">
            <a:solidFill>
              <a:srgbClr val="1D314F"/>
            </a:solidFill>
          </a:ln>
        </p:spPr>
        <p:style>
          <a:lnRef idx="2">
            <a:schemeClr val="accent1"/>
          </a:lnRef>
          <a:fillRef idx="0">
            <a:schemeClr val="accent1"/>
          </a:fillRef>
          <a:effectRef idx="1">
            <a:schemeClr val="accent1"/>
          </a:effectRef>
          <a:fontRef idx="minor">
            <a:schemeClr val="tx1"/>
          </a:fontRef>
        </p:style>
      </p:cxnSp>
      <p:sp>
        <p:nvSpPr>
          <p:cNvPr id="17416" name="Oval 17415"/>
          <p:cNvSpPr/>
          <p:nvPr/>
        </p:nvSpPr>
        <p:spPr>
          <a:xfrm>
            <a:off x="2514600" y="2331720"/>
            <a:ext cx="438912" cy="438912"/>
          </a:xfrm>
          <a:prstGeom prst="ellipse">
            <a:avLst/>
          </a:prstGeom>
          <a:solidFill>
            <a:srgbClr val="5C916D"/>
          </a:solidFill>
          <a:ln w="12700">
            <a:solidFill>
              <a:srgbClr val="5C91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TextBox 17416"/>
          <p:cNvSpPr txBox="1"/>
          <p:nvPr/>
        </p:nvSpPr>
        <p:spPr>
          <a:xfrm>
            <a:off x="2514600" y="2331720"/>
            <a:ext cx="438912" cy="438912"/>
          </a:xfrm>
          <a:prstGeom prst="rect">
            <a:avLst/>
          </a:prstGeom>
          <a:noFill/>
        </p:spPr>
        <p:txBody>
          <a:bodyPr wrap="square" anchor="ctr" lIns="36576" rIns="36576" tIns="9144" bIns="9144">
            <a:spAutoFit/>
          </a:bodyPr>
          <a:lstStyle/>
          <a:p>
            <a:pPr algn="ctr"/>
            <a:r>
              <a:rPr sz="900" b="1">
                <a:solidFill>
                  <a:srgbClr val="FFFFFF"/>
                </a:solidFill>
                <a:latin typeface="Arial"/>
              </a:rPr>
              <a:t>02</a:t>
            </a:r>
          </a:p>
        </p:txBody>
      </p:sp>
      <p:sp>
        <p:nvSpPr>
          <p:cNvPr id="17418" name="Rounded Rectangle 17417"/>
          <p:cNvSpPr/>
          <p:nvPr/>
        </p:nvSpPr>
        <p:spPr>
          <a:xfrm>
            <a:off x="2350008" y="2880360"/>
            <a:ext cx="1417320" cy="960120"/>
          </a:xfrm>
          <a:prstGeom prst="roundRect">
            <a:avLst/>
          </a:prstGeom>
          <a:solidFill>
            <a:srgbClr val="F2F7FB"/>
          </a:solidFill>
          <a:ln w="13970">
            <a:solidFill>
              <a:srgbClr val="5C91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TextBox 17418"/>
          <p:cNvSpPr txBox="1"/>
          <p:nvPr/>
        </p:nvSpPr>
        <p:spPr>
          <a:xfrm>
            <a:off x="2386584" y="2898648"/>
            <a:ext cx="1344168" cy="923544"/>
          </a:xfrm>
          <a:prstGeom prst="rect">
            <a:avLst/>
          </a:prstGeom>
          <a:noFill/>
        </p:spPr>
        <p:txBody>
          <a:bodyPr wrap="square" anchor="ctr" lIns="36576" rIns="36576" tIns="9144" bIns="9144">
            <a:spAutoFit/>
          </a:bodyPr>
          <a:lstStyle/>
          <a:p>
            <a:pPr algn="ctr"/>
            <a:r>
              <a:rPr sz="900" b="1">
                <a:solidFill>
                  <a:srgbClr val="1D314F"/>
                </a:solidFill>
                <a:latin typeface="Arial"/>
              </a:rPr>
              <a:t>Pair
QC + co-register
train / val / test split</a:t>
            </a:r>
          </a:p>
        </p:txBody>
      </p:sp>
      <p:cxnSp>
        <p:nvCxnSpPr>
          <p:cNvPr id="17420" name="Connector 17419"/>
          <p:cNvCxnSpPr/>
          <p:nvPr/>
        </p:nvCxnSpPr>
        <p:spPr>
          <a:xfrm>
            <a:off x="3776472" y="3364992"/>
            <a:ext cx="493776" cy="0"/>
          </a:xfrm>
          <a:prstGeom prst="line">
            <a:avLst/>
          </a:prstGeom>
          <a:ln w="19050">
            <a:solidFill>
              <a:srgbClr val="1D314F"/>
            </a:solidFill>
          </a:ln>
        </p:spPr>
        <p:style>
          <a:lnRef idx="2">
            <a:schemeClr val="accent1"/>
          </a:lnRef>
          <a:fillRef idx="0">
            <a:schemeClr val="accent1"/>
          </a:fillRef>
          <a:effectRef idx="1">
            <a:schemeClr val="accent1"/>
          </a:effectRef>
          <a:fontRef idx="minor">
            <a:schemeClr val="tx1"/>
          </a:fontRef>
        </p:style>
      </p:cxnSp>
      <p:sp>
        <p:nvSpPr>
          <p:cNvPr id="17421" name="Oval 17420"/>
          <p:cNvSpPr/>
          <p:nvPr/>
        </p:nvSpPr>
        <p:spPr>
          <a:xfrm>
            <a:off x="4434840" y="2331720"/>
            <a:ext cx="438912" cy="438912"/>
          </a:xfrm>
          <a:prstGeom prst="ellipse">
            <a:avLst/>
          </a:prstGeom>
          <a:solidFill>
            <a:srgbClr val="E2A43E"/>
          </a:solidFill>
          <a:ln w="12700">
            <a:solidFill>
              <a:srgbClr val="E2A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TextBox 17421"/>
          <p:cNvSpPr txBox="1"/>
          <p:nvPr/>
        </p:nvSpPr>
        <p:spPr>
          <a:xfrm>
            <a:off x="4434840" y="2331720"/>
            <a:ext cx="438912" cy="438912"/>
          </a:xfrm>
          <a:prstGeom prst="rect">
            <a:avLst/>
          </a:prstGeom>
          <a:noFill/>
        </p:spPr>
        <p:txBody>
          <a:bodyPr wrap="square" anchor="ctr" lIns="36576" rIns="36576" tIns="9144" bIns="9144">
            <a:spAutoFit/>
          </a:bodyPr>
          <a:lstStyle/>
          <a:p>
            <a:pPr algn="ctr"/>
            <a:r>
              <a:rPr sz="900" b="1">
                <a:solidFill>
                  <a:srgbClr val="FFFFFF"/>
                </a:solidFill>
                <a:latin typeface="Arial"/>
              </a:rPr>
              <a:t>03</a:t>
            </a:r>
          </a:p>
        </p:txBody>
      </p:sp>
      <p:sp>
        <p:nvSpPr>
          <p:cNvPr id="17423" name="Rounded Rectangle 17422"/>
          <p:cNvSpPr/>
          <p:nvPr/>
        </p:nvSpPr>
        <p:spPr>
          <a:xfrm>
            <a:off x="4270248" y="2880360"/>
            <a:ext cx="1417320" cy="960120"/>
          </a:xfrm>
          <a:prstGeom prst="roundRect">
            <a:avLst/>
          </a:prstGeom>
          <a:solidFill>
            <a:srgbClr val="F2F7FB"/>
          </a:solidFill>
          <a:ln w="13970">
            <a:solidFill>
              <a:srgbClr val="E2A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TextBox 17423"/>
          <p:cNvSpPr txBox="1"/>
          <p:nvPr/>
        </p:nvSpPr>
        <p:spPr>
          <a:xfrm>
            <a:off x="4306824" y="2898648"/>
            <a:ext cx="1344168" cy="923544"/>
          </a:xfrm>
          <a:prstGeom prst="rect">
            <a:avLst/>
          </a:prstGeom>
          <a:noFill/>
        </p:spPr>
        <p:txBody>
          <a:bodyPr wrap="square" anchor="ctr" lIns="36576" rIns="36576" tIns="9144" bIns="9144">
            <a:spAutoFit/>
          </a:bodyPr>
          <a:lstStyle/>
          <a:p>
            <a:pPr algn="ctr"/>
            <a:r>
              <a:rPr sz="900" b="1">
                <a:solidFill>
                  <a:srgbClr val="1D314F"/>
                </a:solidFill>
                <a:latin typeface="Arial"/>
              </a:rPr>
              <a:t>Reconstruct
CNN local detail
Transformer global context</a:t>
            </a:r>
          </a:p>
        </p:txBody>
      </p:sp>
      <p:cxnSp>
        <p:nvCxnSpPr>
          <p:cNvPr id="17425" name="Connector 17424"/>
          <p:cNvCxnSpPr/>
          <p:nvPr/>
        </p:nvCxnSpPr>
        <p:spPr>
          <a:xfrm>
            <a:off x="5696712" y="3364992"/>
            <a:ext cx="493776" cy="0"/>
          </a:xfrm>
          <a:prstGeom prst="line">
            <a:avLst/>
          </a:prstGeom>
          <a:ln w="19050">
            <a:solidFill>
              <a:srgbClr val="1D314F"/>
            </a:solidFill>
          </a:ln>
        </p:spPr>
        <p:style>
          <a:lnRef idx="2">
            <a:schemeClr val="accent1"/>
          </a:lnRef>
          <a:fillRef idx="0">
            <a:schemeClr val="accent1"/>
          </a:fillRef>
          <a:effectRef idx="1">
            <a:schemeClr val="accent1"/>
          </a:effectRef>
          <a:fontRef idx="minor">
            <a:schemeClr val="tx1"/>
          </a:fontRef>
        </p:style>
      </p:cxnSp>
      <p:sp>
        <p:nvSpPr>
          <p:cNvPr id="17426" name="Oval 17425"/>
          <p:cNvSpPr/>
          <p:nvPr/>
        </p:nvSpPr>
        <p:spPr>
          <a:xfrm>
            <a:off x="6355080" y="2331720"/>
            <a:ext cx="438912" cy="438912"/>
          </a:xfrm>
          <a:prstGeom prst="ellipse">
            <a:avLst/>
          </a:prstGeom>
          <a:solidFill>
            <a:srgbClr val="BE594D"/>
          </a:solidFill>
          <a:ln w="12700">
            <a:solidFill>
              <a:srgbClr val="BE5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TextBox 17426"/>
          <p:cNvSpPr txBox="1"/>
          <p:nvPr/>
        </p:nvSpPr>
        <p:spPr>
          <a:xfrm>
            <a:off x="6355080" y="2331720"/>
            <a:ext cx="438912" cy="438912"/>
          </a:xfrm>
          <a:prstGeom prst="rect">
            <a:avLst/>
          </a:prstGeom>
          <a:noFill/>
        </p:spPr>
        <p:txBody>
          <a:bodyPr wrap="square" anchor="ctr" lIns="36576" rIns="36576" tIns="9144" bIns="9144">
            <a:spAutoFit/>
          </a:bodyPr>
          <a:lstStyle/>
          <a:p>
            <a:pPr algn="ctr"/>
            <a:r>
              <a:rPr sz="900" b="1">
                <a:solidFill>
                  <a:srgbClr val="FFFFFF"/>
                </a:solidFill>
                <a:latin typeface="Arial"/>
              </a:rPr>
              <a:t>04</a:t>
            </a:r>
          </a:p>
        </p:txBody>
      </p:sp>
      <p:sp>
        <p:nvSpPr>
          <p:cNvPr id="17428" name="Rounded Rectangle 17427"/>
          <p:cNvSpPr/>
          <p:nvPr/>
        </p:nvSpPr>
        <p:spPr>
          <a:xfrm>
            <a:off x="6190488" y="2880360"/>
            <a:ext cx="1417320" cy="960120"/>
          </a:xfrm>
          <a:prstGeom prst="roundRect">
            <a:avLst/>
          </a:prstGeom>
          <a:solidFill>
            <a:srgbClr val="F2F7FB"/>
          </a:solidFill>
          <a:ln w="13970">
            <a:solidFill>
              <a:srgbClr val="BE5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TextBox 17428"/>
          <p:cNvSpPr txBox="1"/>
          <p:nvPr/>
        </p:nvSpPr>
        <p:spPr>
          <a:xfrm>
            <a:off x="6227064" y="2898648"/>
            <a:ext cx="1344168" cy="923544"/>
          </a:xfrm>
          <a:prstGeom prst="rect">
            <a:avLst/>
          </a:prstGeom>
          <a:noFill/>
        </p:spPr>
        <p:txBody>
          <a:bodyPr wrap="square" anchor="ctr" lIns="36576" rIns="36576" tIns="9144" bIns="9144">
            <a:spAutoFit/>
          </a:bodyPr>
          <a:lstStyle/>
          <a:p>
            <a:pPr algn="ctr"/>
            <a:r>
              <a:rPr sz="900" b="1">
                <a:solidFill>
                  <a:srgbClr val="1D314F"/>
                </a:solidFill>
                <a:latin typeface="Arial"/>
              </a:rPr>
              <a:t>Quantify
Mean + variance
uncertainty / ablation</a:t>
            </a:r>
          </a:p>
        </p:txBody>
      </p:sp>
      <p:cxnSp>
        <p:nvCxnSpPr>
          <p:cNvPr id="17430" name="Connector 17429"/>
          <p:cNvCxnSpPr/>
          <p:nvPr/>
        </p:nvCxnSpPr>
        <p:spPr>
          <a:xfrm>
            <a:off x="7616952" y="3364992"/>
            <a:ext cx="493776" cy="0"/>
          </a:xfrm>
          <a:prstGeom prst="line">
            <a:avLst/>
          </a:prstGeom>
          <a:ln w="19050">
            <a:solidFill>
              <a:srgbClr val="1D314F"/>
            </a:solidFill>
          </a:ln>
        </p:spPr>
        <p:style>
          <a:lnRef idx="2">
            <a:schemeClr val="accent1"/>
          </a:lnRef>
          <a:fillRef idx="0">
            <a:schemeClr val="accent1"/>
          </a:fillRef>
          <a:effectRef idx="1">
            <a:schemeClr val="accent1"/>
          </a:effectRef>
          <a:fontRef idx="minor">
            <a:schemeClr val="tx1"/>
          </a:fontRef>
        </p:style>
      </p:cxnSp>
      <p:sp>
        <p:nvSpPr>
          <p:cNvPr id="17431" name="Oval 17430"/>
          <p:cNvSpPr/>
          <p:nvPr/>
        </p:nvSpPr>
        <p:spPr>
          <a:xfrm>
            <a:off x="8275320" y="2331720"/>
            <a:ext cx="438912" cy="438912"/>
          </a:xfrm>
          <a:prstGeom prst="ellipse">
            <a:avLst/>
          </a:prstGeom>
          <a:solidFill>
            <a:srgbClr val="1D314F"/>
          </a:solidFill>
          <a:ln w="12700">
            <a:solidFill>
              <a:srgbClr val="1D3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2" name="TextBox 17431"/>
          <p:cNvSpPr txBox="1"/>
          <p:nvPr/>
        </p:nvSpPr>
        <p:spPr>
          <a:xfrm>
            <a:off x="8275320" y="2331720"/>
            <a:ext cx="438912" cy="438912"/>
          </a:xfrm>
          <a:prstGeom prst="rect">
            <a:avLst/>
          </a:prstGeom>
          <a:noFill/>
        </p:spPr>
        <p:txBody>
          <a:bodyPr wrap="square" anchor="ctr" lIns="36576" rIns="36576" tIns="9144" bIns="9144">
            <a:spAutoFit/>
          </a:bodyPr>
          <a:lstStyle/>
          <a:p>
            <a:pPr algn="ctr"/>
            <a:r>
              <a:rPr sz="900" b="1">
                <a:solidFill>
                  <a:srgbClr val="FFFFFF"/>
                </a:solidFill>
                <a:latin typeface="Arial"/>
              </a:rPr>
              <a:t>05</a:t>
            </a:r>
          </a:p>
        </p:txBody>
      </p:sp>
      <p:sp>
        <p:nvSpPr>
          <p:cNvPr id="17433" name="Rounded Rectangle 17432"/>
          <p:cNvSpPr/>
          <p:nvPr/>
        </p:nvSpPr>
        <p:spPr>
          <a:xfrm>
            <a:off x="8110728" y="2880360"/>
            <a:ext cx="1417320" cy="960120"/>
          </a:xfrm>
          <a:prstGeom prst="roundRect">
            <a:avLst/>
          </a:prstGeom>
          <a:solidFill>
            <a:srgbClr val="F2F7FB"/>
          </a:solidFill>
          <a:ln w="13970">
            <a:solidFill>
              <a:srgbClr val="1D3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TextBox 17433"/>
          <p:cNvSpPr txBox="1"/>
          <p:nvPr/>
        </p:nvSpPr>
        <p:spPr>
          <a:xfrm>
            <a:off x="8147304" y="2898648"/>
            <a:ext cx="1344168" cy="923544"/>
          </a:xfrm>
          <a:prstGeom prst="rect">
            <a:avLst/>
          </a:prstGeom>
          <a:noFill/>
        </p:spPr>
        <p:txBody>
          <a:bodyPr wrap="square" anchor="ctr" lIns="36576" rIns="36576" tIns="9144" bIns="9144">
            <a:spAutoFit/>
          </a:bodyPr>
          <a:lstStyle/>
          <a:p>
            <a:pPr algn="ctr"/>
            <a:r>
              <a:rPr sz="900" b="1">
                <a:solidFill>
                  <a:srgbClr val="1D314F"/>
                </a:solidFill>
                <a:latin typeface="Arial"/>
              </a:rPr>
              <a:t>Export
CRS + affine
band metadata kept</a:t>
            </a:r>
          </a:p>
        </p:txBody>
      </p:sp>
      <p:sp>
        <p:nvSpPr>
          <p:cNvPr id="17435" name="Rounded Rectangle 17434"/>
          <p:cNvSpPr/>
          <p:nvPr/>
        </p:nvSpPr>
        <p:spPr>
          <a:xfrm>
            <a:off x="2834640" y="4663440"/>
            <a:ext cx="4114800" cy="384048"/>
          </a:xfrm>
          <a:prstGeom prst="roundRect">
            <a:avLst/>
          </a:prstGeom>
          <a:solidFill>
            <a:srgbClr val="1D314F"/>
          </a:solidFill>
          <a:ln w="12700">
            <a:solidFill>
              <a:srgbClr val="1D3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6" name="TextBox 17435"/>
          <p:cNvSpPr txBox="1"/>
          <p:nvPr/>
        </p:nvSpPr>
        <p:spPr>
          <a:xfrm>
            <a:off x="2834640" y="4663440"/>
            <a:ext cx="4114800" cy="384048"/>
          </a:xfrm>
          <a:prstGeom prst="rect">
            <a:avLst/>
          </a:prstGeom>
          <a:noFill/>
        </p:spPr>
        <p:txBody>
          <a:bodyPr wrap="square" anchor="ctr" lIns="36576" rIns="36576" tIns="9144" bIns="9144">
            <a:spAutoFit/>
          </a:bodyPr>
          <a:lstStyle/>
          <a:p>
            <a:pPr algn="ctr"/>
            <a:r>
              <a:rPr sz="1000" b="1">
                <a:solidFill>
                  <a:srgbClr val="FFFFFF"/>
                </a:solidFill>
                <a:latin typeface="Arial"/>
              </a:rPr>
              <a:t>Output is an image product + calibrated confidence product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673352"/>
            <a:ext cx="9372600" cy="256032"/>
          </a:xfrm>
          <a:prstGeom prst="rect">
            <a:avLst/>
          </a:prstGeom>
          <a:noFill/>
        </p:spPr>
        <p:txBody>
          <a:bodyPr wrap="square" anchor="ctr" lIns="36576" rIns="36576" tIns="9144" bIns="9144">
            <a:spAutoFit/>
          </a:bodyPr>
          <a:lstStyle/>
          <a:p>
            <a:pPr algn="l"/>
            <a:r>
              <a:rPr sz="1000" b="1">
                <a:solidFill>
                  <a:srgbClr val="677584"/>
                </a:solidFill>
                <a:latin typeface="Arial"/>
              </a:rPr>
              <a:t>PROOF PLAN | REAL REFERENCES, FAIR SPLITS, AND ANALYTICAL UTILITY</a:t>
            </a:r>
          </a:p>
        </p:txBody>
      </p:sp>
      <p:sp>
        <p:nvSpPr>
          <p:cNvPr id="17411" name="Rounded Rectangle 17410"/>
          <p:cNvSpPr/>
          <p:nvPr/>
        </p:nvSpPr>
        <p:spPr>
          <a:xfrm>
            <a:off x="640080" y="2240280"/>
            <a:ext cx="2651760" cy="2148840"/>
          </a:xfrm>
          <a:prstGeom prst="roundRect">
            <a:avLst/>
          </a:prstGeom>
          <a:solidFill>
            <a:srgbClr val="D3E5F4"/>
          </a:solidFill>
          <a:ln w="13970">
            <a:solidFill>
              <a:srgbClr val="2F6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TextBox 17411"/>
          <p:cNvSpPr txBox="1"/>
          <p:nvPr/>
        </p:nvSpPr>
        <p:spPr>
          <a:xfrm>
            <a:off x="676656" y="2258568"/>
            <a:ext cx="2578608" cy="2112264"/>
          </a:xfrm>
          <a:prstGeom prst="rect">
            <a:avLst/>
          </a:prstGeom>
          <a:noFill/>
        </p:spPr>
        <p:txBody>
          <a:bodyPr wrap="square" anchor="ctr" lIns="36576" rIns="36576" tIns="9144" bIns="9144">
            <a:spAutoFit/>
          </a:bodyPr>
          <a:lstStyle/>
          <a:p>
            <a:pPr algn="ctr"/>
            <a:r>
              <a:rPr sz="1000" b="1">
                <a:solidFill>
                  <a:srgbClr val="1D314F"/>
                </a:solidFill>
                <a:latin typeface="Arial"/>
              </a:rPr>
              <a:t>DATA SPLIT
Train: synthetic SEN2NAIP / v2
Test: geographically separated AOIs
No spatial leakage</a:t>
            </a:r>
          </a:p>
        </p:txBody>
      </p:sp>
      <p:sp>
        <p:nvSpPr>
          <p:cNvPr id="17413" name="Rounded Rectangle 17412"/>
          <p:cNvSpPr/>
          <p:nvPr/>
        </p:nvSpPr>
        <p:spPr>
          <a:xfrm>
            <a:off x="3703320" y="2240280"/>
            <a:ext cx="2651760" cy="2148840"/>
          </a:xfrm>
          <a:prstGeom prst="roundRect">
            <a:avLst/>
          </a:prstGeom>
          <a:solidFill>
            <a:srgbClr val="E8F1EB"/>
          </a:solidFill>
          <a:ln w="13970">
            <a:solidFill>
              <a:srgbClr val="5C91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TextBox 17413"/>
          <p:cNvSpPr txBox="1"/>
          <p:nvPr/>
        </p:nvSpPr>
        <p:spPr>
          <a:xfrm>
            <a:off x="3739896" y="2258568"/>
            <a:ext cx="2578608" cy="2112264"/>
          </a:xfrm>
          <a:prstGeom prst="rect">
            <a:avLst/>
          </a:prstGeom>
          <a:noFill/>
        </p:spPr>
        <p:txBody>
          <a:bodyPr wrap="square" anchor="ctr" lIns="36576" rIns="36576" tIns="9144" bIns="9144">
            <a:spAutoFit/>
          </a:bodyPr>
          <a:lstStyle/>
          <a:p>
            <a:pPr algn="ctr"/>
            <a:r>
              <a:rPr sz="1000" b="1">
                <a:solidFill>
                  <a:srgbClr val="1D314F"/>
                </a:solidFill>
                <a:latin typeface="Arial"/>
              </a:rPr>
              <a:t>REFERENCE ROUTES
4×: real SEN2NAIP
2×: SEN2VENµS
India: Cartosat scenes when secured</a:t>
            </a:r>
          </a:p>
        </p:txBody>
      </p:sp>
      <p:sp>
        <p:nvSpPr>
          <p:cNvPr id="17415" name="Rounded Rectangle 17414"/>
          <p:cNvSpPr/>
          <p:nvPr/>
        </p:nvSpPr>
        <p:spPr>
          <a:xfrm>
            <a:off x="6766560" y="2240280"/>
            <a:ext cx="2651760" cy="2148840"/>
          </a:xfrm>
          <a:prstGeom prst="roundRect">
            <a:avLst/>
          </a:prstGeom>
          <a:solidFill>
            <a:srgbClr val="FFF7E0"/>
          </a:solidFill>
          <a:ln w="13970">
            <a:solidFill>
              <a:srgbClr val="E2A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417" name="Connector 17416"/>
          <p:cNvCxnSpPr/>
          <p:nvPr/>
        </p:nvCxnSpPr>
        <p:spPr>
          <a:xfrm>
            <a:off x="3291840" y="3310128"/>
            <a:ext cx="411480" cy="0"/>
          </a:xfrm>
          <a:prstGeom prst="line">
            <a:avLst/>
          </a:prstGeom>
          <a:ln w="17780">
            <a:solidFill>
              <a:srgbClr val="1D314F"/>
            </a:solidFill>
          </a:ln>
        </p:spPr>
        <p:style>
          <a:lnRef idx="2">
            <a:schemeClr val="accent1"/>
          </a:lnRef>
          <a:fillRef idx="0">
            <a:schemeClr val="accent1"/>
          </a:fillRef>
          <a:effectRef idx="1">
            <a:schemeClr val="accent1"/>
          </a:effectRef>
          <a:fontRef idx="minor">
            <a:schemeClr val="tx1"/>
          </a:fontRef>
        </p:style>
      </p:cxnSp>
      <p:cxnSp>
        <p:nvCxnSpPr>
          <p:cNvPr id="17418" name="Connector 17417"/>
          <p:cNvCxnSpPr/>
          <p:nvPr/>
        </p:nvCxnSpPr>
        <p:spPr>
          <a:xfrm>
            <a:off x="6355080" y="3310128"/>
            <a:ext cx="411480" cy="0"/>
          </a:xfrm>
          <a:prstGeom prst="line">
            <a:avLst/>
          </a:prstGeom>
          <a:ln w="17780">
            <a:solidFill>
              <a:srgbClr val="1D314F"/>
            </a:solidFill>
          </a:ln>
        </p:spPr>
        <p:style>
          <a:lnRef idx="2">
            <a:schemeClr val="accent1"/>
          </a:lnRef>
          <a:fillRef idx="0">
            <a:schemeClr val="accent1"/>
          </a:fillRef>
          <a:effectRef idx="1">
            <a:schemeClr val="accent1"/>
          </a:effectRef>
          <a:fontRef idx="minor">
            <a:schemeClr val="tx1"/>
          </a:fontRef>
        </p:style>
      </p:cxnSp>
      <p:sp>
        <p:nvSpPr>
          <p:cNvPr id="17421" name="Rounded Rectangle 17420"/>
          <p:cNvSpPr/>
          <p:nvPr/>
        </p:nvSpPr>
        <p:spPr>
          <a:xfrm>
            <a:off x="6766560" y="2240280"/>
            <a:ext cx="2651760" cy="2148840"/>
          </a:xfrm>
          <a:prstGeom prst="roundRect">
            <a:avLst/>
          </a:prstGeom>
          <a:solidFill>
            <a:srgbClr val="FFF7E0"/>
          </a:solidFill>
          <a:ln w="13970">
            <a:solidFill>
              <a:srgbClr val="E2A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TextBox 17421"/>
          <p:cNvSpPr txBox="1"/>
          <p:nvPr/>
        </p:nvSpPr>
        <p:spPr>
          <a:xfrm>
            <a:off x="6803136" y="2258568"/>
            <a:ext cx="2578608" cy="2112264"/>
          </a:xfrm>
          <a:prstGeom prst="rect">
            <a:avLst/>
          </a:prstGeom>
          <a:noFill/>
        </p:spPr>
        <p:txBody>
          <a:bodyPr wrap="square" anchor="ctr" lIns="36576" rIns="36576" tIns="9144" bIns="9144">
            <a:spAutoFit/>
          </a:bodyPr>
          <a:lstStyle/>
          <a:p>
            <a:pPr algn="ctr"/>
            <a:r>
              <a:rPr sz="900" b="1">
                <a:solidFill>
                  <a:srgbClr val="1D314F"/>
                </a:solidFill>
                <a:latin typeface="Arial"/>
              </a:rPr>
              <a:t>COMPARE + PROFILE
Quality: PSNR / SSIM / SAM
Utility: IoU / accuracy
Efficiency: latency, VRAM, tiles/min
India: same AOI protocol</a:t>
            </a:r>
          </a:p>
        </p:txBody>
      </p:sp>
      <p:sp>
        <p:nvSpPr>
          <p:cNvPr id="17425" name="TextBox 17424"/>
          <p:cNvSpPr txBox="1"/>
          <p:nvPr/>
        </p:nvSpPr>
        <p:spPr>
          <a:xfrm>
            <a:off x="1234440" y="4800600"/>
            <a:ext cx="7543800" cy="438912"/>
          </a:xfrm>
          <a:prstGeom prst="rect">
            <a:avLst/>
          </a:prstGeom>
          <a:solidFill>
            <a:srgbClr val="1D314F"/>
          </a:solidFill>
          <a:ln>
            <a:solidFill>
              <a:srgbClr val="1D314F"/>
            </a:solidFill>
          </a:ln>
        </p:spPr>
        <p:txBody>
          <a:bodyPr wrap="square" anchor="ctr" lIns="73152" rIns="73152" tIns="18288" bIns="18288">
            <a:spAutoFit/>
          </a:bodyPr>
          <a:lstStyle/>
          <a:p>
            <a:pPr algn="ctr"/>
            <a:r>
              <a:rPr sz="800" b="1">
                <a:solidFill>
                  <a:srgbClr val="FFFFFF"/>
                </a:solidFill>
                <a:latin typeface="Arial"/>
              </a:rPr>
              <a:t>India-domain check: train on non-Indian pairs → test on held-out Indian AOIs → report spectral error + boundary fidelity + uncertainty calibration</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673352"/>
            <a:ext cx="9372600" cy="256032"/>
          </a:xfrm>
          <a:prstGeom prst="rect">
            <a:avLst/>
          </a:prstGeom>
          <a:noFill/>
        </p:spPr>
        <p:txBody>
          <a:bodyPr wrap="square" anchor="ctr" lIns="36576" rIns="36576" tIns="9144" bIns="9144">
            <a:spAutoFit/>
          </a:bodyPr>
          <a:lstStyle/>
          <a:p>
            <a:pPr algn="l"/>
            <a:r>
              <a:rPr sz="1000" b="1">
                <a:solidFill>
                  <a:srgbClr val="677584"/>
                </a:solidFill>
                <a:latin typeface="Arial"/>
              </a:rPr>
              <a:t>ONE CORE CAPABILITY → FOUR DECISION CONTEXTS</a:t>
            </a:r>
          </a:p>
        </p:txBody>
      </p:sp>
      <p:cxnSp>
        <p:nvCxnSpPr>
          <p:cNvPr id="17411" name="Connector 17410"/>
          <p:cNvCxnSpPr/>
          <p:nvPr/>
        </p:nvCxnSpPr>
        <p:spPr>
          <a:xfrm flipH="1" flipV="1">
            <a:off x="2057400" y="2514600"/>
            <a:ext cx="2651760" cy="731520"/>
          </a:xfrm>
          <a:prstGeom prst="line">
            <a:avLst/>
          </a:prstGeom>
          <a:ln w="19050">
            <a:solidFill>
              <a:srgbClr val="1D314F"/>
            </a:solidFill>
          </a:ln>
        </p:spPr>
        <p:style>
          <a:lnRef idx="2">
            <a:schemeClr val="accent1"/>
          </a:lnRef>
          <a:fillRef idx="0">
            <a:schemeClr val="accent1"/>
          </a:fillRef>
          <a:effectRef idx="1">
            <a:schemeClr val="accent1"/>
          </a:effectRef>
          <a:fontRef idx="minor">
            <a:schemeClr val="tx1"/>
          </a:fontRef>
        </p:style>
      </p:cxnSp>
      <p:cxnSp>
        <p:nvCxnSpPr>
          <p:cNvPr id="17412" name="Connector 17411"/>
          <p:cNvCxnSpPr/>
          <p:nvPr/>
        </p:nvCxnSpPr>
        <p:spPr>
          <a:xfrm flipV="1">
            <a:off x="4709160" y="2514600"/>
            <a:ext cx="2651760" cy="731520"/>
          </a:xfrm>
          <a:prstGeom prst="line">
            <a:avLst/>
          </a:prstGeom>
          <a:ln w="19050">
            <a:solidFill>
              <a:srgbClr val="1D314F"/>
            </a:solidFill>
          </a:ln>
        </p:spPr>
        <p:style>
          <a:lnRef idx="2">
            <a:schemeClr val="accent1"/>
          </a:lnRef>
          <a:fillRef idx="0">
            <a:schemeClr val="accent1"/>
          </a:fillRef>
          <a:effectRef idx="1">
            <a:schemeClr val="accent1"/>
          </a:effectRef>
          <a:fontRef idx="minor">
            <a:schemeClr val="tx1"/>
          </a:fontRef>
        </p:style>
      </p:cxnSp>
      <p:cxnSp>
        <p:nvCxnSpPr>
          <p:cNvPr id="17413" name="Connector 17412"/>
          <p:cNvCxnSpPr/>
          <p:nvPr/>
        </p:nvCxnSpPr>
        <p:spPr>
          <a:xfrm flipH="1">
            <a:off x="2057400" y="3246120"/>
            <a:ext cx="2651760" cy="1005840"/>
          </a:xfrm>
          <a:prstGeom prst="line">
            <a:avLst/>
          </a:prstGeom>
          <a:ln w="19050">
            <a:solidFill>
              <a:srgbClr val="1D314F"/>
            </a:solidFill>
          </a:ln>
        </p:spPr>
        <p:style>
          <a:lnRef idx="2">
            <a:schemeClr val="accent1"/>
          </a:lnRef>
          <a:fillRef idx="0">
            <a:schemeClr val="accent1"/>
          </a:fillRef>
          <a:effectRef idx="1">
            <a:schemeClr val="accent1"/>
          </a:effectRef>
          <a:fontRef idx="minor">
            <a:schemeClr val="tx1"/>
          </a:fontRef>
        </p:style>
      </p:cxnSp>
      <p:cxnSp>
        <p:nvCxnSpPr>
          <p:cNvPr id="17414" name="Connector 17413"/>
          <p:cNvCxnSpPr/>
          <p:nvPr/>
        </p:nvCxnSpPr>
        <p:spPr>
          <a:xfrm>
            <a:off x="4709160" y="3246120"/>
            <a:ext cx="2651760" cy="1005840"/>
          </a:xfrm>
          <a:prstGeom prst="line">
            <a:avLst/>
          </a:prstGeom>
          <a:ln w="19050">
            <a:solidFill>
              <a:srgbClr val="1D314F"/>
            </a:solidFill>
          </a:ln>
        </p:spPr>
        <p:style>
          <a:lnRef idx="2">
            <a:schemeClr val="accent1"/>
          </a:lnRef>
          <a:fillRef idx="0">
            <a:schemeClr val="accent1"/>
          </a:fillRef>
          <a:effectRef idx="1">
            <a:schemeClr val="accent1"/>
          </a:effectRef>
          <a:fontRef idx="minor">
            <a:schemeClr val="tx1"/>
          </a:fontRef>
        </p:style>
      </p:cxnSp>
      <p:sp>
        <p:nvSpPr>
          <p:cNvPr id="17415" name="Oval 17414"/>
          <p:cNvSpPr/>
          <p:nvPr/>
        </p:nvSpPr>
        <p:spPr>
          <a:xfrm>
            <a:off x="4160520" y="2697480"/>
            <a:ext cx="1143000" cy="1143000"/>
          </a:xfrm>
          <a:prstGeom prst="ellipse">
            <a:avLst/>
          </a:prstGeom>
          <a:solidFill>
            <a:srgbClr val="1D314F"/>
          </a:solidFill>
          <a:ln w="12700">
            <a:solidFill>
              <a:srgbClr val="1D3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4206240" y="2907792"/>
            <a:ext cx="1051560" cy="640080"/>
          </a:xfrm>
          <a:prstGeom prst="rect">
            <a:avLst/>
          </a:prstGeom>
          <a:noFill/>
        </p:spPr>
        <p:txBody>
          <a:bodyPr wrap="square" anchor="ctr" lIns="36576" rIns="36576" tIns="9144" bIns="9144">
            <a:spAutoFit/>
          </a:bodyPr>
          <a:lstStyle/>
          <a:p>
            <a:pPr algn="ctr"/>
            <a:r>
              <a:rPr sz="1200" b="1">
                <a:solidFill>
                  <a:srgbClr val="FFFFFF"/>
                </a:solidFill>
                <a:latin typeface="Arial"/>
              </a:rPr>
              <a:t>SRM
CORE</a:t>
            </a:r>
          </a:p>
        </p:txBody>
      </p:sp>
      <p:sp>
        <p:nvSpPr>
          <p:cNvPr id="17417" name="Rounded Rectangle 17416"/>
          <p:cNvSpPr/>
          <p:nvPr/>
        </p:nvSpPr>
        <p:spPr>
          <a:xfrm>
            <a:off x="777240" y="2057400"/>
            <a:ext cx="2240280" cy="868680"/>
          </a:xfrm>
          <a:prstGeom prst="roundRect">
            <a:avLst/>
          </a:prstGeom>
          <a:solidFill>
            <a:srgbClr val="F2F7FB"/>
          </a:solidFill>
          <a:ln w="13970">
            <a:solidFill>
              <a:srgbClr val="5C91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TextBox 17417"/>
          <p:cNvSpPr txBox="1"/>
          <p:nvPr/>
        </p:nvSpPr>
        <p:spPr>
          <a:xfrm>
            <a:off x="813816" y="2075688"/>
            <a:ext cx="2167128" cy="832104"/>
          </a:xfrm>
          <a:prstGeom prst="rect">
            <a:avLst/>
          </a:prstGeom>
          <a:noFill/>
        </p:spPr>
        <p:txBody>
          <a:bodyPr wrap="square" anchor="ctr" lIns="36576" rIns="36576" tIns="9144" bIns="9144">
            <a:spAutoFit/>
          </a:bodyPr>
          <a:lstStyle/>
          <a:p>
            <a:pPr algn="ctr"/>
            <a:r>
              <a:rPr sz="1000" b="1">
                <a:solidFill>
                  <a:srgbClr val="1D314F"/>
                </a:solidFill>
                <a:latin typeface="Arial"/>
              </a:rPr>
              <a:t>AGRICULTURE
Crop boundaries / monitoring</a:t>
            </a:r>
          </a:p>
        </p:txBody>
      </p:sp>
      <p:sp>
        <p:nvSpPr>
          <p:cNvPr id="17419" name="Rounded Rectangle 17418"/>
          <p:cNvSpPr/>
          <p:nvPr/>
        </p:nvSpPr>
        <p:spPr>
          <a:xfrm>
            <a:off x="7315200" y="2057400"/>
            <a:ext cx="2240280" cy="868680"/>
          </a:xfrm>
          <a:prstGeom prst="roundRect">
            <a:avLst/>
          </a:prstGeom>
          <a:solidFill>
            <a:srgbClr val="F2F7FB"/>
          </a:solidFill>
          <a:ln w="13970">
            <a:solidFill>
              <a:srgbClr val="2F6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7351776" y="2075688"/>
            <a:ext cx="2167128" cy="832104"/>
          </a:xfrm>
          <a:prstGeom prst="rect">
            <a:avLst/>
          </a:prstGeom>
          <a:noFill/>
        </p:spPr>
        <p:txBody>
          <a:bodyPr wrap="square" anchor="ctr" lIns="36576" rIns="36576" tIns="9144" bIns="9144">
            <a:spAutoFit/>
          </a:bodyPr>
          <a:lstStyle/>
          <a:p>
            <a:pPr algn="ctr"/>
            <a:r>
              <a:rPr sz="1000" b="1">
                <a:solidFill>
                  <a:srgbClr val="1D314F"/>
                </a:solidFill>
                <a:latin typeface="Arial"/>
              </a:rPr>
              <a:t>URBAN MAPPING
Built-up detail / planning</a:t>
            </a:r>
          </a:p>
        </p:txBody>
      </p:sp>
      <p:sp>
        <p:nvSpPr>
          <p:cNvPr id="17421" name="Rounded Rectangle 17420"/>
          <p:cNvSpPr/>
          <p:nvPr/>
        </p:nvSpPr>
        <p:spPr>
          <a:xfrm>
            <a:off x="777240" y="4160520"/>
            <a:ext cx="2240280" cy="868680"/>
          </a:xfrm>
          <a:prstGeom prst="roundRect">
            <a:avLst/>
          </a:prstGeom>
          <a:solidFill>
            <a:srgbClr val="F2F7FB"/>
          </a:solidFill>
          <a:ln w="13970">
            <a:solidFill>
              <a:srgbClr val="BE5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TextBox 17421"/>
          <p:cNvSpPr txBox="1"/>
          <p:nvPr/>
        </p:nvSpPr>
        <p:spPr>
          <a:xfrm>
            <a:off x="813816" y="4178808"/>
            <a:ext cx="2167128" cy="832104"/>
          </a:xfrm>
          <a:prstGeom prst="rect">
            <a:avLst/>
          </a:prstGeom>
          <a:noFill/>
        </p:spPr>
        <p:txBody>
          <a:bodyPr wrap="square" anchor="ctr" lIns="36576" rIns="36576" tIns="9144" bIns="9144">
            <a:spAutoFit/>
          </a:bodyPr>
          <a:lstStyle/>
          <a:p>
            <a:pPr algn="ctr"/>
            <a:r>
              <a:rPr sz="1000" b="1">
                <a:solidFill>
                  <a:srgbClr val="1D314F"/>
                </a:solidFill>
                <a:latin typeface="Arial"/>
              </a:rPr>
              <a:t>DISASTER RESPONSE
Situational awareness</a:t>
            </a:r>
          </a:p>
        </p:txBody>
      </p:sp>
      <p:sp>
        <p:nvSpPr>
          <p:cNvPr id="17423" name="Rounded Rectangle 17422"/>
          <p:cNvSpPr/>
          <p:nvPr/>
        </p:nvSpPr>
        <p:spPr>
          <a:xfrm>
            <a:off x="7315200" y="4160520"/>
            <a:ext cx="2240280" cy="868680"/>
          </a:xfrm>
          <a:prstGeom prst="roundRect">
            <a:avLst/>
          </a:prstGeom>
          <a:solidFill>
            <a:srgbClr val="F2F7FB"/>
          </a:solidFill>
          <a:ln w="13970">
            <a:solidFill>
              <a:srgbClr val="E2A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TextBox 17423"/>
          <p:cNvSpPr txBox="1"/>
          <p:nvPr/>
        </p:nvSpPr>
        <p:spPr>
          <a:xfrm>
            <a:off x="7351776" y="4178808"/>
            <a:ext cx="2167128" cy="832104"/>
          </a:xfrm>
          <a:prstGeom prst="rect">
            <a:avLst/>
          </a:prstGeom>
          <a:noFill/>
        </p:spPr>
        <p:txBody>
          <a:bodyPr wrap="square" anchor="ctr" lIns="36576" rIns="36576" tIns="9144" bIns="9144">
            <a:spAutoFit/>
          </a:bodyPr>
          <a:lstStyle/>
          <a:p>
            <a:pPr algn="ctr"/>
            <a:r>
              <a:rPr sz="1000" b="1">
                <a:solidFill>
                  <a:srgbClr val="1D314F"/>
                </a:solidFill>
                <a:latin typeface="Arial"/>
              </a:rPr>
              <a:t>RESEARCH
Reproducible confidence</a:t>
            </a:r>
          </a:p>
        </p:txBody>
      </p:sp>
      <p:sp>
        <p:nvSpPr>
          <p:cNvPr id="17425" name="Rounded Rectangle 17424"/>
          <p:cNvSpPr/>
          <p:nvPr/>
        </p:nvSpPr>
        <p:spPr>
          <a:xfrm>
            <a:off x="3063240" y="5166360"/>
            <a:ext cx="3291840" cy="320040"/>
          </a:xfrm>
          <a:prstGeom prst="roundRect">
            <a:avLst/>
          </a:prstGeom>
          <a:solidFill>
            <a:srgbClr val="FFF7E0"/>
          </a:solidFill>
          <a:ln w="12700">
            <a:solidFill>
              <a:srgbClr val="FFF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TextBox 17425"/>
          <p:cNvSpPr txBox="1"/>
          <p:nvPr/>
        </p:nvSpPr>
        <p:spPr>
          <a:xfrm>
            <a:off x="3063240" y="5166360"/>
            <a:ext cx="3291840" cy="320040"/>
          </a:xfrm>
          <a:prstGeom prst="rect">
            <a:avLst/>
          </a:prstGeom>
          <a:noFill/>
        </p:spPr>
        <p:txBody>
          <a:bodyPr wrap="square" anchor="ctr" lIns="36576" rIns="36576" tIns="9144" bIns="9144">
            <a:spAutoFit/>
          </a:bodyPr>
          <a:lstStyle/>
          <a:p>
            <a:pPr algn="ctr"/>
            <a:r>
              <a:rPr sz="900" b="1">
                <a:solidFill>
                  <a:srgbClr val="1D314F"/>
                </a:solidFill>
                <a:latin typeface="Arial"/>
              </a:rPr>
              <a:t>Image quality + downstream utility</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673352"/>
            <a:ext cx="9372600" cy="256032"/>
          </a:xfrm>
          <a:prstGeom prst="rect">
            <a:avLst/>
          </a:prstGeom>
          <a:noFill/>
        </p:spPr>
        <p:txBody>
          <a:bodyPr wrap="square" anchor="ctr" lIns="36576" rIns="36576" tIns="9144" bIns="9144">
            <a:spAutoFit/>
          </a:bodyPr>
          <a:lstStyle/>
          <a:p>
            <a:pPr algn="l"/>
            <a:r>
              <a:rPr sz="1000" b="1">
                <a:solidFill>
                  <a:srgbClr val="677584"/>
                </a:solidFill>
                <a:latin typeface="Arial"/>
              </a:rPr>
              <a:t>EVIDENCE + DIFFERENTIATION | CITE PRIOR ART, THEN MEASURE THE INDIA / COMPUTE EDGE</a:t>
            </a:r>
          </a:p>
        </p:txBody>
      </p:sp>
      <p:sp>
        <p:nvSpPr>
          <p:cNvPr id="17411" name="Rounded Rectangle 17410"/>
          <p:cNvSpPr/>
          <p:nvPr/>
        </p:nvSpPr>
        <p:spPr>
          <a:xfrm>
            <a:off x="685800" y="2057400"/>
            <a:ext cx="1143000" cy="384048"/>
          </a:xfrm>
          <a:prstGeom prst="roundRect">
            <a:avLst/>
          </a:prstGeom>
          <a:solidFill>
            <a:srgbClr val="2F68A0"/>
          </a:solidFill>
          <a:ln w="12700">
            <a:solidFill>
              <a:srgbClr val="2F6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TextBox 17411"/>
          <p:cNvSpPr txBox="1"/>
          <p:nvPr/>
        </p:nvSpPr>
        <p:spPr>
          <a:xfrm>
            <a:off x="685800" y="2057400"/>
            <a:ext cx="1143000" cy="384048"/>
          </a:xfrm>
          <a:prstGeom prst="rect">
            <a:avLst/>
          </a:prstGeom>
          <a:noFill/>
        </p:spPr>
        <p:txBody>
          <a:bodyPr wrap="square" anchor="ctr" lIns="36576" rIns="36576" tIns="9144" bIns="9144">
            <a:spAutoFit/>
          </a:bodyPr>
          <a:lstStyle/>
          <a:p>
            <a:pPr algn="ctr"/>
            <a:r>
              <a:rPr sz="900" b="1">
                <a:solidFill>
                  <a:srgbClr val="FFFFFF"/>
                </a:solidFill>
                <a:latin typeface="Arial"/>
              </a:rPr>
              <a:t>DATA</a:t>
            </a:r>
          </a:p>
        </p:txBody>
      </p:sp>
      <p:sp>
        <p:nvSpPr>
          <p:cNvPr id="17413" name="Rounded Rectangle 17412"/>
          <p:cNvSpPr/>
          <p:nvPr/>
        </p:nvSpPr>
        <p:spPr>
          <a:xfrm>
            <a:off x="1965960" y="2057400"/>
            <a:ext cx="2788920" cy="384048"/>
          </a:xfrm>
          <a:prstGeom prst="roundRect">
            <a:avLst/>
          </a:prstGeom>
          <a:solidFill>
            <a:srgbClr val="FFFFFF"/>
          </a:solidFill>
          <a:ln w="13970">
            <a:solidFill>
              <a:srgbClr val="2F6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TextBox 17413"/>
          <p:cNvSpPr txBox="1"/>
          <p:nvPr/>
        </p:nvSpPr>
        <p:spPr>
          <a:xfrm>
            <a:off x="2002536" y="2075688"/>
            <a:ext cx="2715768" cy="347472"/>
          </a:xfrm>
          <a:prstGeom prst="rect">
            <a:avLst/>
          </a:prstGeom>
          <a:noFill/>
        </p:spPr>
        <p:txBody>
          <a:bodyPr wrap="square" anchor="ctr" lIns="36576" rIns="36576" tIns="9144" bIns="9144">
            <a:spAutoFit/>
          </a:bodyPr>
          <a:lstStyle/>
          <a:p>
            <a:pPr algn="ctr"/>
            <a:r>
              <a:rPr sz="900" b="1">
                <a:solidFill>
                  <a:srgbClr val="1D314F"/>
                </a:solidFill>
                <a:latin typeface="Arial"/>
              </a:rPr>
              <a:t>SEN2NAIP / SEN2NAIPv2</a:t>
            </a:r>
          </a:p>
        </p:txBody>
      </p:sp>
      <p:sp>
        <p:nvSpPr>
          <p:cNvPr id="17415" name="TextBox 17414"/>
          <p:cNvSpPr txBox="1"/>
          <p:nvPr/>
        </p:nvSpPr>
        <p:spPr>
          <a:xfrm>
            <a:off x="5074920" y="2057400"/>
            <a:ext cx="4114800" cy="384048"/>
          </a:xfrm>
          <a:prstGeom prst="rect">
            <a:avLst/>
          </a:prstGeom>
          <a:noFill/>
        </p:spPr>
        <p:txBody>
          <a:bodyPr wrap="square" anchor="ctr" lIns="36576" rIns="36576" tIns="9144" bIns="9144">
            <a:spAutoFit/>
          </a:bodyPr>
          <a:lstStyle/>
          <a:p>
            <a:pPr algn="l"/>
            <a:r>
              <a:rPr sz="900" b="0">
                <a:solidFill>
                  <a:srgbClr val="1D314F"/>
                </a:solidFill>
                <a:latin typeface="Arial"/>
              </a:rPr>
              <a:t>Synthetic scale + real 4× test</a:t>
            </a:r>
          </a:p>
        </p:txBody>
      </p:sp>
      <p:sp>
        <p:nvSpPr>
          <p:cNvPr id="17416" name="Rounded Rectangle 17415"/>
          <p:cNvSpPr/>
          <p:nvPr/>
        </p:nvSpPr>
        <p:spPr>
          <a:xfrm>
            <a:off x="685800" y="2651760"/>
            <a:ext cx="1143000" cy="384048"/>
          </a:xfrm>
          <a:prstGeom prst="roundRect">
            <a:avLst/>
          </a:prstGeom>
          <a:solidFill>
            <a:srgbClr val="5C916D"/>
          </a:solidFill>
          <a:ln w="12700">
            <a:solidFill>
              <a:srgbClr val="5C91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TextBox 17416"/>
          <p:cNvSpPr txBox="1"/>
          <p:nvPr/>
        </p:nvSpPr>
        <p:spPr>
          <a:xfrm>
            <a:off x="685800" y="2651760"/>
            <a:ext cx="1143000" cy="384048"/>
          </a:xfrm>
          <a:prstGeom prst="rect">
            <a:avLst/>
          </a:prstGeom>
          <a:noFill/>
        </p:spPr>
        <p:txBody>
          <a:bodyPr wrap="square" anchor="ctr" lIns="36576" rIns="36576" tIns="9144" bIns="9144">
            <a:spAutoFit/>
          </a:bodyPr>
          <a:lstStyle/>
          <a:p>
            <a:pPr algn="ctr"/>
            <a:r>
              <a:rPr sz="900" b="1">
                <a:solidFill>
                  <a:srgbClr val="FFFFFF"/>
                </a:solidFill>
                <a:latin typeface="Arial"/>
              </a:rPr>
              <a:t>VALIDATE</a:t>
            </a:r>
          </a:p>
        </p:txBody>
      </p:sp>
      <p:sp>
        <p:nvSpPr>
          <p:cNvPr id="17418" name="Rounded Rectangle 17417"/>
          <p:cNvSpPr/>
          <p:nvPr/>
        </p:nvSpPr>
        <p:spPr>
          <a:xfrm>
            <a:off x="1965960" y="2651760"/>
            <a:ext cx="2788920" cy="384048"/>
          </a:xfrm>
          <a:prstGeom prst="roundRect">
            <a:avLst/>
          </a:prstGeom>
          <a:solidFill>
            <a:srgbClr val="FFFFFF"/>
          </a:solidFill>
          <a:ln w="13970">
            <a:solidFill>
              <a:srgbClr val="5C91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TextBox 17418"/>
          <p:cNvSpPr txBox="1"/>
          <p:nvPr/>
        </p:nvSpPr>
        <p:spPr>
          <a:xfrm>
            <a:off x="2002536" y="2670048"/>
            <a:ext cx="2715768" cy="347472"/>
          </a:xfrm>
          <a:prstGeom prst="rect">
            <a:avLst/>
          </a:prstGeom>
          <a:noFill/>
        </p:spPr>
        <p:txBody>
          <a:bodyPr wrap="square" anchor="ctr" lIns="36576" rIns="36576" tIns="9144" bIns="9144">
            <a:spAutoFit/>
          </a:bodyPr>
          <a:lstStyle/>
          <a:p>
            <a:pPr algn="ctr"/>
            <a:r>
              <a:rPr sz="900" b="1">
                <a:solidFill>
                  <a:srgbClr val="1D314F"/>
                </a:solidFill>
                <a:latin typeface="Arial"/>
              </a:rPr>
              <a:t>SEN2VENµS + Cartosat</a:t>
            </a:r>
          </a:p>
        </p:txBody>
      </p:sp>
      <p:sp>
        <p:nvSpPr>
          <p:cNvPr id="17420" name="TextBox 17419"/>
          <p:cNvSpPr txBox="1"/>
          <p:nvPr/>
        </p:nvSpPr>
        <p:spPr>
          <a:xfrm>
            <a:off x="5074920" y="2651760"/>
            <a:ext cx="4114800" cy="384048"/>
          </a:xfrm>
          <a:prstGeom prst="rect">
            <a:avLst/>
          </a:prstGeom>
          <a:noFill/>
        </p:spPr>
        <p:txBody>
          <a:bodyPr wrap="square" anchor="ctr" lIns="36576" rIns="36576" tIns="9144" bIns="9144">
            <a:spAutoFit/>
          </a:bodyPr>
          <a:lstStyle/>
          <a:p>
            <a:pPr algn="l"/>
            <a:r>
              <a:rPr sz="900" b="0">
                <a:solidFill>
                  <a:srgbClr val="1D314F"/>
                </a:solidFill>
                <a:latin typeface="Arial"/>
              </a:rPr>
              <a:t>5m check + Indian generalization</a:t>
            </a:r>
          </a:p>
        </p:txBody>
      </p:sp>
      <p:sp>
        <p:nvSpPr>
          <p:cNvPr id="17421" name="Rounded Rectangle 17420"/>
          <p:cNvSpPr/>
          <p:nvPr/>
        </p:nvSpPr>
        <p:spPr>
          <a:xfrm>
            <a:off x="685800" y="3246120"/>
            <a:ext cx="1143000" cy="384048"/>
          </a:xfrm>
          <a:prstGeom prst="roundRect">
            <a:avLst/>
          </a:prstGeom>
          <a:solidFill>
            <a:srgbClr val="E2A43E"/>
          </a:solidFill>
          <a:ln w="12700">
            <a:solidFill>
              <a:srgbClr val="E2A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TextBox 17421"/>
          <p:cNvSpPr txBox="1"/>
          <p:nvPr/>
        </p:nvSpPr>
        <p:spPr>
          <a:xfrm>
            <a:off x="685800" y="3246120"/>
            <a:ext cx="1143000" cy="384048"/>
          </a:xfrm>
          <a:prstGeom prst="rect">
            <a:avLst/>
          </a:prstGeom>
          <a:noFill/>
        </p:spPr>
        <p:txBody>
          <a:bodyPr wrap="square" anchor="ctr" lIns="36576" rIns="36576" tIns="9144" bIns="9144">
            <a:spAutoFit/>
          </a:bodyPr>
          <a:lstStyle/>
          <a:p>
            <a:pPr algn="ctr"/>
            <a:r>
              <a:rPr sz="900" b="1">
                <a:solidFill>
                  <a:srgbClr val="FFFFFF"/>
                </a:solidFill>
                <a:latin typeface="Arial"/>
              </a:rPr>
              <a:t>BASELINE</a:t>
            </a:r>
          </a:p>
        </p:txBody>
      </p:sp>
      <p:sp>
        <p:nvSpPr>
          <p:cNvPr id="17423" name="Rounded Rectangle 17422"/>
          <p:cNvSpPr/>
          <p:nvPr/>
        </p:nvSpPr>
        <p:spPr>
          <a:xfrm>
            <a:off x="1965960" y="3246120"/>
            <a:ext cx="2788920" cy="384048"/>
          </a:xfrm>
          <a:prstGeom prst="roundRect">
            <a:avLst/>
          </a:prstGeom>
          <a:solidFill>
            <a:srgbClr val="FFFFFF"/>
          </a:solidFill>
          <a:ln w="13970">
            <a:solidFill>
              <a:srgbClr val="E2A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TextBox 17423"/>
          <p:cNvSpPr txBox="1"/>
          <p:nvPr/>
        </p:nvSpPr>
        <p:spPr>
          <a:xfrm>
            <a:off x="2002536" y="3264408"/>
            <a:ext cx="2715768" cy="347472"/>
          </a:xfrm>
          <a:prstGeom prst="rect">
            <a:avLst/>
          </a:prstGeom>
          <a:noFill/>
        </p:spPr>
        <p:txBody>
          <a:bodyPr wrap="square" anchor="ctr" lIns="36576" rIns="36576" tIns="9144" bIns="9144">
            <a:spAutoFit/>
          </a:bodyPr>
          <a:lstStyle/>
          <a:p>
            <a:pPr algn="ctr"/>
            <a:r>
              <a:rPr sz="900" b="1">
                <a:solidFill>
                  <a:srgbClr val="1D314F"/>
                </a:solidFill>
                <a:latin typeface="Arial"/>
              </a:rPr>
              <a:t>SEN2SR / OpenSR / Donike</a:t>
            </a:r>
          </a:p>
        </p:txBody>
      </p:sp>
      <p:sp>
        <p:nvSpPr>
          <p:cNvPr id="17425" name="TextBox 17424"/>
          <p:cNvSpPr txBox="1"/>
          <p:nvPr/>
        </p:nvSpPr>
        <p:spPr>
          <a:xfrm>
            <a:off x="5074920" y="3246120"/>
            <a:ext cx="4114800" cy="384048"/>
          </a:xfrm>
          <a:prstGeom prst="rect">
            <a:avLst/>
          </a:prstGeom>
          <a:noFill/>
        </p:spPr>
        <p:txBody>
          <a:bodyPr wrap="square" anchor="ctr" lIns="36576" rIns="36576" tIns="9144" bIns="9144">
            <a:spAutoFit/>
          </a:bodyPr>
          <a:lstStyle/>
          <a:p>
            <a:pPr algn="l"/>
            <a:r>
              <a:rPr sz="900" b="0">
                <a:solidFill>
                  <a:srgbClr val="1D314F"/>
                </a:solidFill>
                <a:latin typeface="Arial"/>
              </a:rPr>
              <a:t>Known prior art; benchmark honestly</a:t>
            </a:r>
          </a:p>
        </p:txBody>
      </p:sp>
      <p:sp>
        <p:nvSpPr>
          <p:cNvPr id="17426" name="Rounded Rectangle 17425"/>
          <p:cNvSpPr/>
          <p:nvPr/>
        </p:nvSpPr>
        <p:spPr>
          <a:xfrm>
            <a:off x="685800" y="3840480"/>
            <a:ext cx="1143000" cy="384048"/>
          </a:xfrm>
          <a:prstGeom prst="roundRect">
            <a:avLst/>
          </a:prstGeom>
          <a:solidFill>
            <a:srgbClr val="BE594D"/>
          </a:solidFill>
          <a:ln w="12700">
            <a:solidFill>
              <a:srgbClr val="BE5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TextBox 17426"/>
          <p:cNvSpPr txBox="1"/>
          <p:nvPr/>
        </p:nvSpPr>
        <p:spPr>
          <a:xfrm>
            <a:off x="685800" y="3840480"/>
            <a:ext cx="1143000" cy="384048"/>
          </a:xfrm>
          <a:prstGeom prst="rect">
            <a:avLst/>
          </a:prstGeom>
          <a:noFill/>
        </p:spPr>
        <p:txBody>
          <a:bodyPr wrap="square" anchor="ctr" lIns="36576" rIns="36576" tIns="9144" bIns="9144">
            <a:spAutoFit/>
          </a:bodyPr>
          <a:lstStyle/>
          <a:p>
            <a:pPr algn="ctr"/>
            <a:r>
              <a:rPr sz="900" b="1">
                <a:solidFill>
                  <a:srgbClr val="FFFFFF"/>
                </a:solidFill>
                <a:latin typeface="Arial"/>
              </a:rPr>
              <a:t>UTILITY</a:t>
            </a:r>
          </a:p>
        </p:txBody>
      </p:sp>
      <p:sp>
        <p:nvSpPr>
          <p:cNvPr id="17428" name="Rounded Rectangle 17427"/>
          <p:cNvSpPr/>
          <p:nvPr/>
        </p:nvSpPr>
        <p:spPr>
          <a:xfrm>
            <a:off x="1965960" y="3840480"/>
            <a:ext cx="2788920" cy="384048"/>
          </a:xfrm>
          <a:prstGeom prst="roundRect">
            <a:avLst/>
          </a:prstGeom>
          <a:solidFill>
            <a:srgbClr val="FFFFFF"/>
          </a:solidFill>
          <a:ln w="13970">
            <a:solidFill>
              <a:srgbClr val="BE5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TextBox 17428"/>
          <p:cNvSpPr txBox="1"/>
          <p:nvPr/>
        </p:nvSpPr>
        <p:spPr>
          <a:xfrm>
            <a:off x="2002536" y="3858768"/>
            <a:ext cx="2715768" cy="347472"/>
          </a:xfrm>
          <a:prstGeom prst="rect">
            <a:avLst/>
          </a:prstGeom>
          <a:noFill/>
        </p:spPr>
        <p:txBody>
          <a:bodyPr wrap="square" anchor="ctr" lIns="36576" rIns="36576" tIns="9144" bIns="9144">
            <a:spAutoFit/>
          </a:bodyPr>
          <a:lstStyle/>
          <a:p>
            <a:pPr algn="ctr"/>
            <a:r>
              <a:rPr sz="900" b="1">
                <a:solidFill>
                  <a:srgbClr val="1D314F"/>
                </a:solidFill>
                <a:latin typeface="Arial"/>
              </a:rPr>
              <a:t>WorldCover / GeoSR-Bench</a:t>
            </a:r>
          </a:p>
        </p:txBody>
      </p:sp>
      <p:sp>
        <p:nvSpPr>
          <p:cNvPr id="17430" name="TextBox 17429"/>
          <p:cNvSpPr txBox="1"/>
          <p:nvPr/>
        </p:nvSpPr>
        <p:spPr>
          <a:xfrm>
            <a:off x="5074920" y="3840480"/>
            <a:ext cx="4114800" cy="384048"/>
          </a:xfrm>
          <a:prstGeom prst="rect">
            <a:avLst/>
          </a:prstGeom>
          <a:noFill/>
        </p:spPr>
        <p:txBody>
          <a:bodyPr wrap="square" anchor="ctr" lIns="36576" rIns="36576" tIns="9144" bIns="9144">
            <a:spAutoFit/>
          </a:bodyPr>
          <a:lstStyle/>
          <a:p>
            <a:pPr algn="l"/>
            <a:r>
              <a:rPr sz="900" b="0">
                <a:solidFill>
                  <a:srgbClr val="1D314F"/>
                </a:solidFill>
                <a:latin typeface="Arial"/>
              </a:rPr>
              <a:t>IoU or accuracy, not visual preference</a:t>
            </a:r>
          </a:p>
        </p:txBody>
      </p:sp>
      <p:sp>
        <p:nvSpPr>
          <p:cNvPr id="17432" name="Rounded Rectangle 17431"/>
          <p:cNvSpPr/>
          <p:nvPr/>
        </p:nvSpPr>
        <p:spPr>
          <a:xfrm>
            <a:off x="685800" y="4572000"/>
            <a:ext cx="4343400" cy="685800"/>
          </a:xfrm>
          <a:prstGeom prst="roundRect">
            <a:avLst/>
          </a:prstGeom>
          <a:solidFill>
            <a:srgbClr val="E8F1EB"/>
          </a:solidFill>
          <a:ln w="13970">
            <a:solidFill>
              <a:srgbClr val="5C91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TextBox 17432"/>
          <p:cNvSpPr txBox="1"/>
          <p:nvPr/>
        </p:nvSpPr>
        <p:spPr>
          <a:xfrm>
            <a:off x="722376" y="4590288"/>
            <a:ext cx="4270248" cy="649224"/>
          </a:xfrm>
          <a:prstGeom prst="rect">
            <a:avLst/>
          </a:prstGeom>
          <a:noFill/>
        </p:spPr>
        <p:txBody>
          <a:bodyPr wrap="square" anchor="ctr" lIns="36576" rIns="36576" tIns="9144" bIns="9144">
            <a:spAutoFit/>
          </a:bodyPr>
          <a:lstStyle/>
          <a:p>
            <a:pPr algn="ctr"/>
            <a:r>
              <a:rPr sz="800" b="1">
                <a:solidFill>
                  <a:srgbClr val="1D314F"/>
                </a:solidFill>
                <a:latin typeface="Arial"/>
              </a:rPr>
              <a:t>INDIA-DOMAIN BENCHMARK
Held-out Cartosat/Indian AOIs when secured · same preprocessing · compare bicubic vs SR · report SAM, boundary IoU, confidence-error correlation</a:t>
            </a:r>
          </a:p>
        </p:txBody>
      </p:sp>
      <p:sp>
        <p:nvSpPr>
          <p:cNvPr id="17434" name="Rounded Rectangle 17433"/>
          <p:cNvSpPr/>
          <p:nvPr/>
        </p:nvSpPr>
        <p:spPr>
          <a:xfrm>
            <a:off x="5257800" y="4572000"/>
            <a:ext cx="4343400" cy="685800"/>
          </a:xfrm>
          <a:prstGeom prst="roundRect">
            <a:avLst/>
          </a:prstGeom>
          <a:solidFill>
            <a:srgbClr val="FFF7E0"/>
          </a:solidFill>
          <a:ln w="13970">
            <a:solidFill>
              <a:srgbClr val="E2A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5" name="TextBox 17434"/>
          <p:cNvSpPr txBox="1"/>
          <p:nvPr/>
        </p:nvSpPr>
        <p:spPr>
          <a:xfrm>
            <a:off x="5294376" y="4590288"/>
            <a:ext cx="4270248" cy="649224"/>
          </a:xfrm>
          <a:prstGeom prst="rect">
            <a:avLst/>
          </a:prstGeom>
          <a:noFill/>
        </p:spPr>
        <p:txBody>
          <a:bodyPr wrap="square" anchor="ctr" lIns="36576" rIns="36576" tIns="9144" bIns="9144">
            <a:spAutoFit/>
          </a:bodyPr>
          <a:lstStyle/>
          <a:p>
            <a:pPr algn="ctr"/>
            <a:r>
              <a:rPr sz="800" b="1">
                <a:solidFill>
                  <a:srgbClr val="1D314F"/>
                </a:solidFill>
                <a:latin typeface="Arial"/>
              </a:rPr>
              <a:t>COMPUTE BENCHMARK
Fixed patch/tile size + GPU · report params, VRAM, latency, throughput · compare our model vs SEN2SRLite/OpenSR; DiffFuSR is paper-only reference (~170M params, A100-hours)</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